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302" r:id="rId7"/>
    <p:sldId id="303" r:id="rId8"/>
    <p:sldId id="270" r:id="rId16"/>
    <p:sldId id="298" r:id="rId13"/>
    <p:sldId id="290" r:id="rId17"/>
    <p:sldId id="307" r:id="rId12"/>
    <p:sldId id="285" r:id="rId15"/>
    <p:sldId id="289" r:id="rId19"/>
    <p:sldId id="31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95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9" Type="http://schemas.openxmlformats.org/officeDocument/2006/relationships/slide" Target="slides/slide15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8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5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9309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636008"/>
            <a:ext cx="9144000" cy="1107959"/>
          </a:xfrm>
        </p:spPr>
        <p:txBody>
          <a:bodyPr anchor="b"/>
          <a:lstStyle/>
          <a:p/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5742432"/>
            <a:ext cx="7953375" cy="457200"/>
          </a:xfrm>
        </p:spPr>
        <p:txBody>
          <a:bodyPr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7955279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92624"/>
            <a:ext cx="74980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Organizational Memory 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650992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Arial"/>
              </a:rPr>
              <a:t>Every answer carries the evidence, the conflict, and the way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971032"/>
            <a:ext cx="4937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RELEX Challenge · AaltoAI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image of bar graphs">
            <a:extLst>
              <a:ext uri="{FF2B5EF4-FFF2-40B4-BE49-F238E27FC236}">
                <a16:creationId xmlns:a16="http://schemas.microsoft.com/office/drawing/2014/main" id="{B1240E7A-9EE3-4AD7-AC70-53A1C0C7D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8562475" cy="1325563"/>
          </a:xfrm>
        </p:spPr>
        <p:txBody>
          <a:bodyPr/>
          <a:lstStyle/>
          <a:p/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6363A03-E425-4DF0-A245-F0EEE2D043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</p:spPr>
        <p:txBody>
          <a:bodyPr/>
          <a:lstStyle/>
          <a:p/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80B2038-1B53-491E-BC2F-148E99EFDB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274" y="2242336"/>
            <a:ext cx="3886200" cy="914400"/>
          </a:xfrm>
        </p:spPr>
        <p:txBody>
          <a:bodyPr/>
          <a:lstStyle/>
          <a:p/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970A788-9414-4536-9C00-F0C8714580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525" y="3218688"/>
            <a:ext cx="3886200" cy="320040"/>
          </a:xfrm>
        </p:spPr>
        <p:txBody>
          <a:bodyPr/>
          <a:lstStyle/>
          <a:p/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845A907-CC82-47DD-86EC-58C44C2EA6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4399" y="3545967"/>
            <a:ext cx="3886200" cy="914400"/>
          </a:xfrm>
        </p:spPr>
        <p:txBody>
          <a:bodyPr>
            <a:noAutofit/>
          </a:bodyPr>
          <a:lstStyle/>
          <a:p/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EF3428C-82C8-426A-8AA5-06D4123935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4525" y="4709160"/>
            <a:ext cx="3886200" cy="320040"/>
          </a:xfrm>
        </p:spPr>
        <p:txBody>
          <a:bodyPr/>
          <a:lstStyle/>
          <a:p/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178A14-FF95-463C-89E7-D71BB431EA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/>
          <a:p/>
        </p:txBody>
      </p:sp>
      <p:sp>
        <p:nvSpPr>
          <p:cNvPr id="149" name="Date Placeholder 148">
            <a:extLst>
              <a:ext uri="{FF2B5EF4-FFF2-40B4-BE49-F238E27FC236}">
                <a16:creationId xmlns:a16="http://schemas.microsoft.com/office/drawing/2014/main" id="{9598B89F-8751-4A36-9936-166C1658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B76A604-CBAD-4494-A846-E4C833A609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801" y="1916113"/>
            <a:ext cx="3886200" cy="320040"/>
          </a:xfrm>
        </p:spPr>
        <p:txBody>
          <a:bodyPr/>
          <a:lstStyle/>
          <a:p/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F07FAC4-029F-4076-B784-683A1CCA6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/>
          <a:p/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EEA5224-6F24-4134-84A4-4BB922BE15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90801" y="3218688"/>
            <a:ext cx="3886200" cy="320040"/>
          </a:xfrm>
        </p:spPr>
        <p:txBody>
          <a:bodyPr/>
          <a:lstStyle/>
          <a:p/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DC9F3A7-D8E7-4ABC-8153-8AFB777CAC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/>
          <a:p/>
        </p:txBody>
      </p:sp>
      <p:sp>
        <p:nvSpPr>
          <p:cNvPr id="150" name="Footer Placeholder 149">
            <a:extLst>
              <a:ext uri="{FF2B5EF4-FFF2-40B4-BE49-F238E27FC236}">
                <a16:creationId xmlns:a16="http://schemas.microsoft.com/office/drawing/2014/main" id="{BF3830E9-8071-46F4-9061-47A9D527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3C4F874E-995C-4034-ACF3-1F09DDFD1E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734040" y="-68580"/>
            <a:ext cx="1737360" cy="6858000"/>
          </a:xfrm>
        </p:spPr>
        <p:txBody>
          <a:bodyPr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914400" y="548640"/>
            <a:ext cx="9144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WHY MEMORY BREAKS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4400" y="1133856"/>
            <a:ext cx="795527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A clean summary can still be wrong when the archive disagrees with itself.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05840" y="1691640"/>
            <a:ext cx="457200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4D71"/>
                </a:solidFill>
                <a:latin typeface="Arial"/>
              </a:rPr>
              <a:t>45 files, one messy truth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21A22"/>
                </a:solidFill>
                <a:latin typeface="Arial"/>
              </a:rPr>
              <a:t>Transcripts, email threads and status reports — with people, dates and decisions changing over time.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64D71"/>
                </a:solidFill>
                <a:latin typeface="Arial"/>
              </a:rPr>
              <a:t>Suggestion ≠ commitment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21A22"/>
                </a:solidFill>
                <a:latin typeface="Arial"/>
              </a:rPr>
              <a:t>A polished assistant can turn an idea into an agreement if nobody checks the receipt.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742432" y="1691640"/>
            <a:ext cx="457200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4D71"/>
                </a:solidFill>
                <a:latin typeface="Arial"/>
              </a:rPr>
              <a:t>Stale ≠ false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21A22"/>
                </a:solidFill>
                <a:latin typeface="Arial"/>
              </a:rPr>
              <a:t>A later report may be superseded by operational evidence — or contradict it. Newer is not automatically truer.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64D71"/>
                </a:solidFill>
                <a:latin typeface="Arial"/>
              </a:rPr>
              <a:t>Privacy ≠ amnesia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21A22"/>
                </a:solidFill>
                <a:latin typeface="Arial"/>
              </a:rPr>
              <a:t>Remove a person from ordinary surfaces without deleting the organization's attributable history.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77240" y="5596128"/>
            <a:ext cx="10378440" cy="530352"/>
          </a:xfrm>
          <a:prstGeom prst="rect">
            <a:avLst/>
          </a:prstGeom>
          <a:solidFill>
            <a:srgbClr val="005C80"/>
          </a:solidFill>
          <a:ln>
            <a:solidFill>
              <a:srgbClr val="00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87552" y="571500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The challenge: answer live questions with a receipt — then survive the privacy test.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AALTOAI HACKATHON 2026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363" y="365125"/>
            <a:ext cx="5103007" cy="1325563"/>
          </a:xfrm>
        </p:spPr>
        <p:txBody>
          <a:bodyPr/>
          <a:lstStyle/>
          <a:p/>
        </p:txBody>
      </p:sp>
      <p:pic>
        <p:nvPicPr>
          <p:cNvPr id="7" name="Picture Placeholder 6" descr="Man working on laptop sitting by the window">
            <a:extLst>
              <a:ext uri="{FF2B5EF4-FFF2-40B4-BE49-F238E27FC236}">
                <a16:creationId xmlns:a16="http://schemas.microsoft.com/office/drawing/2014/main" id="{32F765DF-EED6-463B-813A-9D13C1F84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30" y="548640"/>
            <a:ext cx="4389120" cy="57607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3182" y="2093976"/>
            <a:ext cx="5120640" cy="3200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/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/>
          <a:p/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48019F-B471-48D3-A6AA-3F0B467240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3307" y="3227832"/>
            <a:ext cx="5120640" cy="320040"/>
          </a:xfrm>
        </p:spPr>
        <p:txBody>
          <a:bodyPr/>
          <a:lstStyle/>
          <a:p/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300A6A-6AD6-4D6C-85C5-FDF36EF1D3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/>
          <a:p/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03AC016-5A46-4B6E-943F-B9F4648629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9167" y="4059936"/>
            <a:ext cx="5120640" cy="320040"/>
          </a:xfrm>
        </p:spPr>
        <p:txBody>
          <a:bodyPr/>
          <a:lstStyle/>
          <a:p/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0A43BEE-B04F-469B-9957-9AF5947E5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/>
          <a:p/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631719C-FC8F-4C94-8D70-74C636AC87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49292" y="5202936"/>
            <a:ext cx="5120640" cy="320040"/>
          </a:xfrm>
        </p:spPr>
        <p:txBody>
          <a:bodyPr/>
          <a:lstStyle/>
          <a:p/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8552BB2-2387-4A2C-8668-B6633FE46E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49166" y="5535502"/>
            <a:ext cx="5120640" cy="640080"/>
          </a:xfrm>
        </p:spPr>
        <p:txBody>
          <a:bodyPr/>
          <a:lstStyle/>
          <a:p/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9726F8A6-61E7-497C-B12F-6E9E2C05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9EF76BD2-EB69-4D45-9701-8A82B812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BD1651FB-5427-4C2E-968C-077A5FC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6199632" y="585216"/>
            <a:ext cx="5532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THE ANSWER IS A CASE — NOT A CHAT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1188720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64D71"/>
                </a:solidFill>
                <a:latin typeface="Arial"/>
              </a:rPr>
              <a:t>Every question becomes a structured ruling.</a:t>
            </a:r>
          </a:p>
        </p:txBody>
      </p:sp>
      <p:sp>
        <p:nvSpPr>
          <p:cNvPr id="55" name="Oval 54"/>
          <p:cNvSpPr/>
          <p:nvPr/>
        </p:nvSpPr>
        <p:spPr>
          <a:xfrm>
            <a:off x="6254496" y="1901952"/>
            <a:ext cx="329184" cy="329184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1696" y="1856231"/>
            <a:ext cx="443484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4D71"/>
                </a:solidFill>
                <a:latin typeface="Arial"/>
              </a:rPr>
              <a:t>ASK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21A22"/>
                </a:solidFill>
                <a:latin typeface="Arial"/>
              </a:rPr>
              <a:t>Hybrid search finds the right moments — not the whole archive.</a:t>
            </a:r>
          </a:p>
        </p:txBody>
      </p:sp>
      <p:sp>
        <p:nvSpPr>
          <p:cNvPr id="57" name="Oval 56"/>
          <p:cNvSpPr/>
          <p:nvPr/>
        </p:nvSpPr>
        <p:spPr>
          <a:xfrm>
            <a:off x="6254496" y="2743200"/>
            <a:ext cx="329184" cy="329184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1696" y="2697480"/>
            <a:ext cx="443484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4D71"/>
                </a:solidFill>
                <a:latin typeface="Arial"/>
              </a:rPr>
              <a:t>CHECK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21A22"/>
                </a:solidFill>
                <a:latin typeface="Arial"/>
              </a:rPr>
              <a:t>Risk rules decide when the first answer needs a real challenge.</a:t>
            </a:r>
          </a:p>
        </p:txBody>
      </p:sp>
      <p:sp>
        <p:nvSpPr>
          <p:cNvPr id="59" name="Oval 58"/>
          <p:cNvSpPr/>
          <p:nvPr/>
        </p:nvSpPr>
        <p:spPr>
          <a:xfrm>
            <a:off x="6254496" y="3584448"/>
            <a:ext cx="329184" cy="329184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11696" y="3538728"/>
            <a:ext cx="443484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4D71"/>
                </a:solidFill>
                <a:latin typeface="Arial"/>
              </a:rPr>
              <a:t>RECONCILE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21A22"/>
                </a:solidFill>
                <a:latin typeface="Arial"/>
              </a:rPr>
              <a:t>Conflicts, uncertainty and Decision Evolution stay visible.</a:t>
            </a:r>
          </a:p>
        </p:txBody>
      </p:sp>
      <p:sp>
        <p:nvSpPr>
          <p:cNvPr id="61" name="Oval 60"/>
          <p:cNvSpPr/>
          <p:nvPr/>
        </p:nvSpPr>
        <p:spPr>
          <a:xfrm>
            <a:off x="6254496" y="4425696"/>
            <a:ext cx="329184" cy="329184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1696" y="4379976"/>
            <a:ext cx="443484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4D71"/>
                </a:solidFill>
                <a:latin typeface="Arial"/>
              </a:rPr>
              <a:t>RECEIPT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21A22"/>
                </a:solidFill>
                <a:latin typeface="Arial"/>
              </a:rPr>
              <a:t>Claims link to exact stored evidence — metadata comes from the locker, not the model.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5413248"/>
            <a:ext cx="47548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1">
                <a:solidFill>
                  <a:srgbClr val="0995A9"/>
                </a:solidFill>
                <a:latin typeface="Arial"/>
              </a:rPr>
              <a:t>The LLM interprets. The Evidence Locker remembers.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677179"/>
                </a:solidFill>
                <a:latin typeface="Arial"/>
              </a:rPr>
              <a:t>AALTOAI HACKATHON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677179"/>
                </a:solidFill>
                <a:latin typeface="Arial"/>
              </a:rPr>
              <a:t>MEMORY WITH A RECEIPT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77179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close up image of coins">
            <a:extLst>
              <a:ext uri="{FF2B5EF4-FFF2-40B4-BE49-F238E27FC236}">
                <a16:creationId xmlns:a16="http://schemas.microsoft.com/office/drawing/2014/main" id="{B91E178C-484E-43C6-93B4-4DF1D16460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1218882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44752" y="2487165"/>
            <a:ext cx="2926080" cy="2714379"/>
          </a:xfrm>
        </p:spPr>
        <p:txBody>
          <a:bodyPr/>
          <a:lstStyle/>
          <a:p/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73352" y="3374136"/>
            <a:ext cx="2468880" cy="1371600"/>
          </a:xfrm>
        </p:spPr>
        <p:txBody>
          <a:bodyPr vert="horz" lIns="91440" tIns="45720" rIns="91440" bIns="45720" rtlCol="0" anchor="t">
            <a:noAutofit/>
          </a:bodyPr>
          <a:lstStyle/>
          <a:p/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36008" y="2487165"/>
            <a:ext cx="2926080" cy="2715768"/>
          </a:xfrm>
        </p:spPr>
        <p:txBody>
          <a:bodyPr>
            <a:normAutofit/>
          </a:bodyPr>
          <a:lstStyle/>
          <a:p/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73775" y="3374136"/>
            <a:ext cx="2468880" cy="1371600"/>
          </a:xfrm>
        </p:spPr>
        <p:txBody>
          <a:bodyPr vert="horz" lIns="91440" tIns="45720" rIns="91440" bIns="45720" rtlCol="0" anchor="t">
            <a:noAutofit/>
          </a:bodyPr>
          <a:lstStyle/>
          <a:p/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90688" y="2487165"/>
            <a:ext cx="2926080" cy="2715768"/>
          </a:xfrm>
        </p:spPr>
        <p:txBody>
          <a:bodyPr>
            <a:normAutofit/>
          </a:bodyPr>
          <a:lstStyle/>
          <a:p/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019288" y="3374136"/>
            <a:ext cx="2468880" cy="1371600"/>
          </a:xfrm>
        </p:spPr>
        <p:txBody>
          <a:bodyPr vert="horz" lIns="91440" tIns="45720" rIns="91440" bIns="45720" rtlCol="0" anchor="t">
            <a:normAutofit/>
          </a:bodyPr>
          <a:lstStyle/>
          <a:p/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AAA39EA-03A4-4F7C-AD28-57646912356E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REVERSIBLE PSEUDONYMIZATION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005840"/>
            <a:ext cx="8503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Privacy without erasing organizational memory.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1865376"/>
            <a:ext cx="2971800" cy="2633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1865376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093976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PRESERVE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2615184"/>
            <a:ext cx="2569464" cy="1719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121A22"/>
                </a:solidFill>
                <a:latin typeface="Arial"/>
              </a:rPr>
              <a:t>Every evidence unit, relationship, receipt and profile survives.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1865376"/>
            <a:ext cx="2971800" cy="2633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0288" y="1865376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2093976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PROTECT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5" y="2615184"/>
            <a:ext cx="2569464" cy="1719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200" b="0" i="0">
                <a:solidFill>
                  <a:srgbClr val="121A22"/>
                </a:solidFill>
                <a:latin typeface="Arial"/>
              </a:rPr>
              <a:t>Names become a stable alias — Participant Q7M4-N8 — while the original identity stays in an encrypted reversal vault.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63256" y="1865376"/>
            <a:ext cx="2971800" cy="2633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63256" y="1865376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093976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RESTORE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4424" y="2615184"/>
            <a:ext cx="2569464" cy="1719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121A22"/>
                </a:solidFill>
                <a:latin typeface="Arial"/>
              </a:rPr>
              <a:t>An authenticated admin can reverse it, rebuild the indexes, and verify every surface.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983480"/>
            <a:ext cx="9098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64D71"/>
                </a:solidFill>
                <a:latin typeface="Arial"/>
              </a:rPr>
              <a:t>Source · search · embeddings · cases · cache: rebuilt, rechecked, and never filtered at query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77840"/>
            <a:ext cx="8503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Arial"/>
              </a:rPr>
              <a:t>The person changes name in the product — not history in the archive.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AALTOAI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759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black and white image of bar graphs">
            <a:extLst>
              <a:ext uri="{FF2B5EF4-FFF2-40B4-BE49-F238E27FC236}">
                <a16:creationId xmlns:a16="http://schemas.microsoft.com/office/drawing/2014/main" id="{328A991A-37FB-44FF-88EA-33E50292CB5C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F04D30-F224-451C-9FFE-3930E78F7E5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C7B196D-A4EB-4450-8C2E-D4F26C77F8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67130" y="2752344"/>
            <a:ext cx="2560320" cy="603504"/>
          </a:xfrm>
        </p:spPr>
        <p:txBody>
          <a:bodyPr anchor="ctr">
            <a:normAutofit/>
          </a:bodyPr>
          <a:lstStyle/>
          <a:p/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6852965-5187-4677-B878-4167E7B6925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815840" y="2752344"/>
            <a:ext cx="2560320" cy="603504"/>
          </a:xfrm>
        </p:spPr>
        <p:txBody>
          <a:bodyPr anchor="ctr"/>
          <a:lstStyle/>
          <a:p/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362839C-0A6B-4785-ACD4-42645537AF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67194" y="2752344"/>
            <a:ext cx="2560320" cy="603504"/>
          </a:xfrm>
        </p:spPr>
        <p:txBody>
          <a:bodyPr anchor="ctr"/>
          <a:lstStyle/>
          <a:p/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463A9-91ED-406C-A142-DF9DBB5C018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767130" y="3502152"/>
            <a:ext cx="2560320" cy="1371600"/>
          </a:xfrm>
        </p:spPr>
        <p:txBody>
          <a:bodyPr vert="horz" lIns="91440" tIns="45720" rIns="91440" bIns="45720" rtlCol="0" anchor="t">
            <a:normAutofit/>
          </a:bodyPr>
          <a:lstStyle/>
          <a:p/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DC3A9B5-5598-4CD5-88DB-141F093C2F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15840" y="3502152"/>
            <a:ext cx="256032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24C0B95-53C2-4500-8EAE-8B7F73AAE5B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67194" y="3502152"/>
            <a:ext cx="2560320" cy="1371600"/>
          </a:xfrm>
        </p:spPr>
        <p:txBody>
          <a:bodyPr/>
          <a:lstStyle/>
          <a:p/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27C7F-0ED2-4657-B2A4-AF40C8659E41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271CD-BE6E-4BDA-AE95-037EC2B146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C7452-8DFB-4E08-B517-7802CB6719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42" name="TextBox 41"/>
          <p:cNvSpPr txBox="1"/>
          <p:nvPr/>
        </p:nvSpPr>
        <p:spPr>
          <a:xfrm>
            <a:off x="914400" y="53035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THE EVIDENCE LOCKER IS THE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1060704"/>
            <a:ext cx="8503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Raw evidence is authoritative; model output is a derived interpretation.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1847088"/>
            <a:ext cx="32918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2505456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source documents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3984" y="1847088"/>
            <a:ext cx="32918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2,534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2505456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citable evidence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1847088"/>
            <a:ext cx="32918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490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2505456"/>
            <a:ext cx="3337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automated tests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331927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PROPOSE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3319272"/>
            <a:ext cx="37490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CHALLENGE + RECONCILE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319272"/>
            <a:ext cx="2743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4005072" y="3511296"/>
            <a:ext cx="219456" cy="0"/>
          </a:xfrm>
          <a:prstGeom prst="line">
            <a:avLst/>
          </a:prstGeom>
          <a:ln w="3810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001000" y="3511296"/>
            <a:ext cx="210312" cy="0"/>
          </a:xfrm>
          <a:prstGeom prst="line">
            <a:avLst/>
          </a:prstGeom>
          <a:ln w="3810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188720" y="4160520"/>
            <a:ext cx="9829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Decision Evolution keeps the path visible: proposed → agreed → contradicted → superseded → current.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36192" y="4617720"/>
            <a:ext cx="9144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1">
                <a:solidFill>
                  <a:srgbClr val="FFFFFF"/>
                </a:solidFill>
                <a:latin typeface="Arial"/>
              </a:rPr>
              <a:t>No citation, no claim. No valid citation, no screen time.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AALTOAI HACKATHON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2181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image of bar graph">
            <a:extLst>
              <a:ext uri="{FF2B5EF4-FFF2-40B4-BE49-F238E27FC236}">
                <a16:creationId xmlns:a16="http://schemas.microsoft.com/office/drawing/2014/main" id="{6A057D43-F8BF-4DAD-A7AD-845A6D5B5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0" y="365125"/>
            <a:ext cx="7894320" cy="1325563"/>
          </a:xfrm>
        </p:spPr>
        <p:txBody>
          <a:bodyPr/>
          <a:lstStyle/>
          <a:p/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</p:spPr>
        <p:txBody>
          <a:bodyPr/>
          <a:lstStyle/>
          <a:p/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71EBE-B721-4278-A276-75F44D55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2488" y="2686050"/>
            <a:ext cx="3657600" cy="2743200"/>
          </a:xfrm>
        </p:spPr>
        <p:txBody>
          <a:bodyPr/>
          <a:lstStyle/>
          <a:p/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29525" y="1919288"/>
            <a:ext cx="3657600" cy="640080"/>
          </a:xfrm>
        </p:spPr>
        <p:txBody>
          <a:bodyPr/>
          <a:lstStyle/>
          <a:p/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72E633-D3D4-4B6D-909F-937FED844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29525" y="2686050"/>
            <a:ext cx="3657600" cy="2743200"/>
          </a:xfrm>
        </p:spPr>
        <p:txBody>
          <a:bodyPr/>
          <a:lstStyle/>
          <a:p/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892EE2B-E8C5-4129-9850-04151ED0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B5D1873B-E191-492D-8A88-5BC54325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D55AB81-8A4D-4B4A-8B0F-A7407C6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04A6B-B6E9-40E3-BFCB-8C1C17E0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Arial"/>
              </a:rPr>
              <a:t>NOT JUST ANOTHER CHATBOT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1078992"/>
            <a:ext cx="9418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The difference is accountable memory — not more fluent prose.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1783080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77179"/>
                </a:solidFill>
                <a:latin typeface="Arial"/>
              </a:rPr>
              <a:t>TYPICAL CHATBOT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783080"/>
            <a:ext cx="4297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64D71"/>
                </a:solidFill>
                <a:latin typeface="Arial"/>
              </a:rPr>
              <a:t>OUR AUDITOR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267712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77179"/>
                </a:solidFill>
                <a:latin typeface="Arial"/>
              </a:rPr>
              <a:t>Best-effort prose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26771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64D71"/>
                </a:solidFill>
                <a:latin typeface="Arial"/>
              </a:rPr>
              <a:t>Typed Case with a status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46120" y="2615184"/>
            <a:ext cx="7863840" cy="0"/>
          </a:xfrm>
          <a:prstGeom prst="line">
            <a:avLst/>
          </a:prstGeom>
          <a:ln w="12700">
            <a:solidFill>
              <a:srgbClr val="CD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46120" y="2962656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77179"/>
                </a:solidFill>
                <a:latin typeface="Arial"/>
              </a:rPr>
              <a:t>One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962656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64D71"/>
                </a:solidFill>
                <a:latin typeface="Arial"/>
              </a:rPr>
              <a:t>Evidence + objections + uncertainty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46120" y="3310128"/>
            <a:ext cx="7863840" cy="0"/>
          </a:xfrm>
          <a:prstGeom prst="line">
            <a:avLst/>
          </a:prstGeom>
          <a:ln w="12700">
            <a:solidFill>
              <a:srgbClr val="CD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46120" y="365760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77179"/>
                </a:solidFill>
                <a:latin typeface="Arial"/>
              </a:rPr>
              <a:t>Latest statement wins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64D71"/>
                </a:solidFill>
                <a:latin typeface="Arial"/>
              </a:rPr>
              <a:t>Decision Evolution shows supersession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46120" y="4005072"/>
            <a:ext cx="7863840" cy="0"/>
          </a:xfrm>
          <a:prstGeom prst="line">
            <a:avLst/>
          </a:prstGeom>
          <a:ln w="12700">
            <a:solidFill>
              <a:srgbClr val="CD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46120" y="4352544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77179"/>
                </a:solidFill>
                <a:latin typeface="Arial"/>
              </a:rPr>
              <a:t>Forget by filtering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352544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64D71"/>
                </a:solidFill>
                <a:latin typeface="Arial"/>
              </a:rPr>
              <a:t>Pseudonymise, preserve, verify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4700016"/>
            <a:ext cx="7863840" cy="0"/>
          </a:xfrm>
          <a:prstGeom prst="line">
            <a:avLst/>
          </a:prstGeom>
          <a:ln w="12700">
            <a:solidFill>
              <a:srgbClr val="CD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46120" y="50474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77179"/>
                </a:solidFill>
                <a:latin typeface="Arial"/>
              </a:rPr>
              <a:t>Waits for a question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047488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64D71"/>
                </a:solidFill>
                <a:latin typeface="Arial"/>
              </a:rPr>
              <a:t>Radar surfaces what to revisit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46120" y="5394959"/>
            <a:ext cx="7863840" cy="0"/>
          </a:xfrm>
          <a:prstGeom prst="line">
            <a:avLst/>
          </a:prstGeom>
          <a:ln w="12700">
            <a:solidFill>
              <a:srgbClr val="CD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063240" y="5742432"/>
            <a:ext cx="7863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Arial"/>
              </a:rPr>
              <a:t>A chatbot answers. An auditor can defend the answer.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AALTOAI HACKATHON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 descr="image of bar graphs&#10;">
            <a:extLst>
              <a:ext uri="{FF2B5EF4-FFF2-40B4-BE49-F238E27FC236}">
                <a16:creationId xmlns:a16="http://schemas.microsoft.com/office/drawing/2014/main" id="{8DF0B24C-C423-4BE7-9103-806E661E19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A222B6F-BB67-4A4C-8885-56E895268E0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6800" y="1525143"/>
            <a:ext cx="10058400" cy="548640"/>
          </a:xfrm>
        </p:spPr>
        <p:txBody>
          <a:bodyPr>
            <a:normAutofit/>
          </a:bodyPr>
          <a:lstStyle/>
          <a:p/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A7DD34AA-E48A-47B4-BD20-EA3CBB161E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/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D4C9E1-F442-4E77-AD43-98B4169C16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73352" y="3584448"/>
            <a:ext cx="2468880" cy="1371600"/>
          </a:xfrm>
        </p:spPr>
        <p:txBody>
          <a:bodyPr>
            <a:normAutofit/>
          </a:bodyPr>
          <a:lstStyle/>
          <a:p/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314248-E087-48C3-891A-BF11C1EE1F0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636008" y="2697587"/>
            <a:ext cx="2926080" cy="2505345"/>
          </a:xfrm>
        </p:spPr>
        <p:txBody>
          <a:bodyPr/>
          <a:lstStyle/>
          <a:p/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D8C892-AFAE-46DF-8A54-B8C979482F0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73775" y="3584448"/>
            <a:ext cx="2468880" cy="1371600"/>
          </a:xfrm>
        </p:spPr>
        <p:txBody>
          <a:bodyPr>
            <a:normAutofit/>
          </a:bodyPr>
          <a:lstStyle/>
          <a:p/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1BDCA60-2625-4B36-96B1-2B050A7C734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90688" y="2697587"/>
            <a:ext cx="2926080" cy="2505345"/>
          </a:xfrm>
        </p:spPr>
        <p:txBody>
          <a:bodyPr/>
          <a:lstStyle/>
          <a:p/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6255A71-CEF2-4F63-A0C4-DC367B56213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019288" y="3584448"/>
            <a:ext cx="2468880" cy="1371600"/>
          </a:xfrm>
        </p:spPr>
        <p:txBody>
          <a:bodyPr>
            <a:normAutofit/>
          </a:bodyPr>
          <a:lstStyle/>
          <a:p/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062A-F97D-488B-9454-8BCCA36C6DA0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67" name="Footer Placeholder 66">
            <a:extLst>
              <a:ext uri="{FF2B5EF4-FFF2-40B4-BE49-F238E27FC236}">
                <a16:creationId xmlns:a16="http://schemas.microsoft.com/office/drawing/2014/main" id="{354056BA-2CCC-4DA8-BF1E-8AE4C81144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CA60395-A3D9-469E-B191-FCFC5F5EE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80" name="TextBox 79"/>
          <p:cNvSpPr txBox="1"/>
          <p:nvPr/>
        </p:nvSpPr>
        <p:spPr>
          <a:xfrm>
            <a:off x="914400" y="41148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Arial"/>
              </a:rPr>
              <a:t>ROADMAP &amp; SEAMLESS EXECUTION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1024128"/>
            <a:ext cx="8503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We planned for evidence first — and shipped the whole loop in that order.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17320" y="1874519"/>
            <a:ext cx="29718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17320" y="1874519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2103120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1 · LOCK THE MEMORY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18488" y="2624327"/>
            <a:ext cx="2569464" cy="1600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121A22"/>
                </a:solidFill>
                <a:latin typeface="Arial"/>
              </a:rPr>
              <a:t>45 source files
→ 2,534 atomic Evidence Units
→ stable, citable IDs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90288" y="1874519"/>
            <a:ext cx="29718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90288" y="1874519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79" y="2103120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2 · BUILD THE AUDITOR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91455" y="2624327"/>
            <a:ext cx="2569464" cy="1600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121A22"/>
                </a:solidFill>
                <a:latin typeface="Arial"/>
              </a:rPr>
              <a:t>Retrieve
→ challenge
→ reconcile
→ validate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63256" y="1874519"/>
            <a:ext cx="29718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3256" y="1874519"/>
            <a:ext cx="2971800" cy="91440"/>
          </a:xfrm>
          <a:prstGeom prst="rect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27848" y="2103120"/>
            <a:ext cx="264261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64D71"/>
                </a:solidFill>
                <a:latin typeface="Arial"/>
              </a:rPr>
              <a:t>3 · PROVE THE EDGES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64424" y="2624327"/>
            <a:ext cx="2569464" cy="1600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300" b="0" i="0">
                <a:solidFill>
                  <a:srgbClr val="121A22"/>
                </a:solidFill>
                <a:latin typeface="Arial"/>
              </a:rPr>
              <a:t>490 passing tests
+ privacy/reversal rehearsal
+ live demo path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65960" y="4882896"/>
            <a:ext cx="8229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PLAN  →  BUILD  →  VERIFY  →  DEMO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28800" y="5358384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Arial"/>
              </a:rPr>
              <a:t>What the judge sees: one coherent product, not a collection of promises.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AALTOAI HACKATHON 2026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MEMORY WITH A RECEIPT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9000" y="2130552"/>
            <a:ext cx="2011680" cy="274320"/>
          </a:xfrm>
        </p:spPr>
        <p:txBody>
          <a:bodyPr>
            <a:noAutofit/>
          </a:bodyPr>
          <a:lstStyle/>
          <a:p/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E3E8D6-EBCD-4E49-9090-1E7064FAD1EA}"/>
              </a:ext>
            </a:extLst>
          </p:cNvPr>
          <p:cNvSpPr txBox="1"/>
          <p:nvPr/>
        </p:nvSpPr>
        <p:spPr>
          <a:xfrm>
            <a:off x="8762113" y="2175264"/>
            <a:ext cx="151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74FBB-AFB3-4F5F-8F5A-C916AA503E95}"/>
              </a:ext>
            </a:extLst>
          </p:cNvPr>
          <p:cNvSpPr txBox="1"/>
          <p:nvPr/>
        </p:nvSpPr>
        <p:spPr>
          <a:xfrm>
            <a:off x="1431112" y="2684568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1375" y="3252207"/>
            <a:ext cx="2011363" cy="274638"/>
          </a:xfrm>
        </p:spPr>
        <p:txBody>
          <a:bodyPr>
            <a:noAutofit/>
          </a:bodyPr>
          <a:lstStyle/>
          <a:p/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45168" y="3273552"/>
            <a:ext cx="2011680" cy="274320"/>
          </a:xfrm>
        </p:spPr>
        <p:txBody>
          <a:bodyPr>
            <a:normAutofit lnSpcReduction="10000"/>
          </a:bodyPr>
          <a:lstStyle/>
          <a:p/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4E8CF7-1F1C-45FE-9088-92F9A8BEC2AF}"/>
              </a:ext>
            </a:extLst>
          </p:cNvPr>
          <p:cNvSpPr txBox="1"/>
          <p:nvPr/>
        </p:nvSpPr>
        <p:spPr>
          <a:xfrm>
            <a:off x="2036066" y="4138266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3EB4F2-6DCD-42D9-A38E-E739722752EE}"/>
              </a:ext>
            </a:extLst>
          </p:cNvPr>
          <p:cNvSpPr txBox="1"/>
          <p:nvPr/>
        </p:nvSpPr>
        <p:spPr>
          <a:xfrm>
            <a:off x="2612253" y="4741178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47F5A-99BC-46EC-A6B9-3DB10D5A741B}"/>
              </a:ext>
            </a:extLst>
          </p:cNvPr>
          <p:cNvSpPr txBox="1"/>
          <p:nvPr/>
        </p:nvSpPr>
        <p:spPr>
          <a:xfrm>
            <a:off x="5918241" y="4688266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51BACB-0034-4464-B71B-DE045F78BAD8}"/>
              </a:ext>
            </a:extLst>
          </p:cNvPr>
          <p:cNvSpPr txBox="1"/>
          <p:nvPr/>
        </p:nvSpPr>
        <p:spPr>
          <a:xfrm>
            <a:off x="7616115" y="4153685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9000" y="5184648"/>
            <a:ext cx="2011680" cy="274320"/>
          </a:xfrm>
        </p:spPr>
        <p:txBody>
          <a:bodyPr>
            <a:normAutofit lnSpcReduction="10000"/>
          </a:bodyPr>
          <a:lstStyle/>
          <a:p/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713730-0D5A-4207-A796-E1A98217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1232" y="3012705"/>
            <a:ext cx="182880" cy="18288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1DAEBEE-A114-4C54-9B63-DEFA96F6B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2373" y="4534092"/>
            <a:ext cx="182880" cy="18288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90E21EE-75B0-43BB-BF94-A9BF7327A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6235" y="3946594"/>
            <a:ext cx="182880" cy="18288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B1A1C25-B297-4292-95F7-F45462C0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78361" y="4483895"/>
            <a:ext cx="182880" cy="18288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9671F7-315E-4F2A-A255-2959A5816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6186" y="3936604"/>
            <a:ext cx="182880" cy="18288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B5DC08-9E27-4C29-8425-CB31A423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39852" y="2571997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4AE1D161-46F9-4A99-81FE-3AA72B02613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42" name="Rectangle 41"/>
          <p:cNvSpPr/>
          <p:nvPr/>
        </p:nvSpPr>
        <p:spPr>
          <a:xfrm>
            <a:off x="685800" y="1325880"/>
            <a:ext cx="10835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THE RADAR: INITIATIVE THAT LOOKS AHEAD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987552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77179"/>
                </a:solidFill>
                <a:latin typeface="Arial"/>
              </a:rPr>
              <a:t>A proactive feature that turns hindsight into a ranked reason to look again.</a:t>
            </a:r>
          </a:p>
        </p:txBody>
      </p:sp>
      <p:sp>
        <p:nvSpPr>
          <p:cNvPr id="45" name="Oval 44"/>
          <p:cNvSpPr/>
          <p:nvPr/>
        </p:nvSpPr>
        <p:spPr>
          <a:xfrm>
            <a:off x="1709928" y="2084831"/>
            <a:ext cx="475488" cy="47548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2688336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64D71"/>
                </a:solidFill>
                <a:latin typeface="Arial"/>
              </a:rPr>
              <a:t>REJECTED /
DEFERRED IDEA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5" y="3310128"/>
            <a:ext cx="1938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What did we stop?</a:t>
            </a:r>
          </a:p>
        </p:txBody>
      </p:sp>
      <p:sp>
        <p:nvSpPr>
          <p:cNvPr id="48" name="Oval 47"/>
          <p:cNvSpPr/>
          <p:nvPr/>
        </p:nvSpPr>
        <p:spPr>
          <a:xfrm>
            <a:off x="4361688" y="2084831"/>
            <a:ext cx="475488" cy="47548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03320" y="2688336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64D71"/>
                </a:solidFill>
                <a:latin typeface="Arial"/>
              </a:rPr>
              <a:t>ORIGINAL
BLOCKER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48456" y="3310128"/>
            <a:ext cx="1938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Why did it stop?</a:t>
            </a:r>
          </a:p>
        </p:txBody>
      </p:sp>
      <p:sp>
        <p:nvSpPr>
          <p:cNvPr id="51" name="Oval 50"/>
          <p:cNvSpPr/>
          <p:nvPr/>
        </p:nvSpPr>
        <p:spPr>
          <a:xfrm>
            <a:off x="7013448" y="2084831"/>
            <a:ext cx="475488" cy="47548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688336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64D71"/>
                </a:solidFill>
                <a:latin typeface="Arial"/>
              </a:rPr>
              <a:t>WHAT
CHANGED?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0216" y="3310128"/>
            <a:ext cx="1938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Does the blocker still hold?</a:t>
            </a:r>
          </a:p>
        </p:txBody>
      </p:sp>
      <p:sp>
        <p:nvSpPr>
          <p:cNvPr id="54" name="Oval 53"/>
          <p:cNvSpPr/>
          <p:nvPr/>
        </p:nvSpPr>
        <p:spPr>
          <a:xfrm>
            <a:off x="9665208" y="2084831"/>
            <a:ext cx="475488" cy="47548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2688336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64D71"/>
                </a:solidFill>
                <a:latin typeface="Arial"/>
              </a:rPr>
              <a:t>RADAR
ASSESSMENT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51976" y="3310128"/>
            <a:ext cx="1938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Revisit · blocked · unclear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874519" y="2322576"/>
            <a:ext cx="1801368" cy="0"/>
          </a:xfrm>
          <a:prstGeom prst="line">
            <a:avLst/>
          </a:prstGeom>
          <a:ln w="3175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26280" y="2322576"/>
            <a:ext cx="1801368" cy="0"/>
          </a:xfrm>
          <a:prstGeom prst="line">
            <a:avLst/>
          </a:prstGeom>
          <a:ln w="3175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178040" y="2322576"/>
            <a:ext cx="1801368" cy="0"/>
          </a:xfrm>
          <a:prstGeom prst="line">
            <a:avLst/>
          </a:prstGeom>
          <a:ln w="3175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143000" y="4325112"/>
            <a:ext cx="9966960" cy="758952"/>
          </a:xfrm>
          <a:prstGeom prst="roundRect">
            <a:avLst/>
          </a:prstGeom>
          <a:solidFill>
            <a:srgbClr val="F1F6F8"/>
          </a:solidFill>
          <a:ln>
            <a:solidFill>
              <a:srgbClr val="F1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63040" y="4507992"/>
            <a:ext cx="9326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64D71"/>
                </a:solidFill>
                <a:latin typeface="Arial"/>
              </a:rPr>
              <a:t>7 skeptical checks keep hindsight honest — and the Radar never pretends it is evidence.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394960"/>
            <a:ext cx="8503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1">
                <a:solidFill>
                  <a:srgbClr val="0995A9"/>
                </a:solidFill>
                <a:latin typeface="Arial"/>
              </a:rPr>
              <a:t>No prompt required. No unsupported recommendation. Just the next question worth asking.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677179"/>
                </a:solidFill>
                <a:latin typeface="Arial"/>
              </a:rPr>
              <a:t>AALTOAI HACKATHON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677179"/>
                </a:solidFill>
                <a:latin typeface="Arial"/>
              </a:rPr>
              <a:t>MEMORY WITH A RECEIPT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77179"/>
                </a:solidFill>
                <a:latin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48236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830F660-D88D-4A5F-8F7C-44B1D5C8E661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2167128" y="2470398"/>
            <a:ext cx="1828800" cy="696912"/>
          </a:xfrm>
          <a:noFill/>
          <a:ln w="25400">
            <a:solidFill>
              <a:schemeClr val="accent3"/>
            </a:solidFill>
          </a:ln>
        </p:spPr>
        <p:txBody>
          <a:bodyPr anchor="t" anchorCtr="0"/>
          <a:lstStyle/>
          <a:p>
            <a:pPr>
              <a:lnSpc>
                <a:spcPct val="200000"/>
              </a:lnSpc>
            </a:pPr>
          </a:p>
        </p:txBody>
      </p:sp>
      <p:sp>
        <p:nvSpPr>
          <p:cNvPr id="116" name="Text Placeholder 32">
            <a:extLst>
              <a:ext uri="{FF2B5EF4-FFF2-40B4-BE49-F238E27FC236}">
                <a16:creationId xmlns:a16="http://schemas.microsoft.com/office/drawing/2014/main" id="{1DF5D925-396D-4F69-A672-042BE3765BF3}"/>
              </a:ext>
            </a:extLst>
          </p:cNvPr>
          <p:cNvSpPr txBox="1">
            <a:spLocks/>
          </p:cNvSpPr>
          <p:nvPr/>
        </p:nvSpPr>
        <p:spPr>
          <a:xfrm>
            <a:off x="2214621" y="2911853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607DCFEC-829E-4B9D-9E7F-72EDD3917269}"/>
              </a:ext>
            </a:extLst>
          </p:cNvPr>
          <p:cNvSpPr txBox="1">
            <a:spLocks/>
          </p:cNvSpPr>
          <p:nvPr/>
        </p:nvSpPr>
        <p:spPr>
          <a:xfrm>
            <a:off x="4531162" y="2468880"/>
            <a:ext cx="1828800" cy="69494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vert="horz" lIns="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</a:p>
        </p:txBody>
      </p:sp>
      <p:sp>
        <p:nvSpPr>
          <p:cNvPr id="118" name="Text Placeholder 32">
            <a:extLst>
              <a:ext uri="{FF2B5EF4-FFF2-40B4-BE49-F238E27FC236}">
                <a16:creationId xmlns:a16="http://schemas.microsoft.com/office/drawing/2014/main" id="{8D1819FD-484E-465C-9168-96B226CC52AC}"/>
              </a:ext>
            </a:extLst>
          </p:cNvPr>
          <p:cNvSpPr txBox="1">
            <a:spLocks/>
          </p:cNvSpPr>
          <p:nvPr/>
        </p:nvSpPr>
        <p:spPr>
          <a:xfrm>
            <a:off x="4600443" y="2907792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7FB66D8F-42FB-4D6F-B5C7-E8A2704C4D5D}"/>
              </a:ext>
            </a:extLst>
          </p:cNvPr>
          <p:cNvSpPr txBox="1">
            <a:spLocks/>
          </p:cNvSpPr>
          <p:nvPr/>
        </p:nvSpPr>
        <p:spPr>
          <a:xfrm>
            <a:off x="8455234" y="2468880"/>
            <a:ext cx="1828800" cy="69494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vert="horz" lIns="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</a:p>
        </p:txBody>
      </p:sp>
      <p:sp>
        <p:nvSpPr>
          <p:cNvPr id="122" name="Text Placeholder 32">
            <a:extLst>
              <a:ext uri="{FF2B5EF4-FFF2-40B4-BE49-F238E27FC236}">
                <a16:creationId xmlns:a16="http://schemas.microsoft.com/office/drawing/2014/main" id="{03FCDCE9-ECBC-4C82-B228-62D7B590374B}"/>
              </a:ext>
            </a:extLst>
          </p:cNvPr>
          <p:cNvSpPr txBox="1">
            <a:spLocks/>
          </p:cNvSpPr>
          <p:nvPr/>
        </p:nvSpPr>
        <p:spPr>
          <a:xfrm>
            <a:off x="8545115" y="2907792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4C1DC48-210B-4EA5-ABC0-EFF5BC2E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81528" y="3161849"/>
            <a:ext cx="0" cy="27432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6155A8D-4215-45F4-9EE8-B5134F3B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45562" y="3163824"/>
            <a:ext cx="0" cy="27432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34685E3-049D-4C8B-8099-9C2BDDE0A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69634" y="3163824"/>
            <a:ext cx="0" cy="27432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422952"/>
            <a:ext cx="731520" cy="4572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1997AD5-1C95-4DBE-B96B-FF9C9B5BF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4495" y="3993955"/>
            <a:ext cx="137160" cy="137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1C29B84-1C3F-4264-B157-6E66C0FE2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71017" y="3993016"/>
            <a:ext cx="137160" cy="137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B04E3E4-BABC-4652-903D-E382A6E60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975" y="3994428"/>
            <a:ext cx="137160" cy="137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B9032FF-99AE-4650-8A87-BB9117C82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96099" y="3993016"/>
            <a:ext cx="137160" cy="137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Year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24228"/>
            <a:ext cx="731520" cy="457200"/>
          </a:xfrm>
        </p:spPr>
        <p:txBody>
          <a:bodyPr>
            <a:normAutofit/>
          </a:bodyPr>
          <a:lstStyle/>
          <a:p/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/>
          <a:p/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/>
          <a:p/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2D5F1D5-E2E9-49DD-8D91-4398296FA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76775" y="4722682"/>
            <a:ext cx="0" cy="27432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7675303-0D1F-4522-B513-62246F67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21953" y="4724657"/>
            <a:ext cx="0" cy="2743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CDC1244-94F9-4369-9B79-DCF2E5A79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54512" y="4724657"/>
            <a:ext cx="0" cy="27432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1">
            <a:extLst>
              <a:ext uri="{FF2B5EF4-FFF2-40B4-BE49-F238E27FC236}">
                <a16:creationId xmlns:a16="http://schemas.microsoft.com/office/drawing/2014/main" id="{0322F7C2-6007-4413-B0AC-012350267DE3}"/>
              </a:ext>
            </a:extLst>
          </p:cNvPr>
          <p:cNvSpPr txBox="1">
            <a:spLocks/>
          </p:cNvSpPr>
          <p:nvPr/>
        </p:nvSpPr>
        <p:spPr>
          <a:xfrm>
            <a:off x="2162375" y="5004966"/>
            <a:ext cx="1828800" cy="69494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vert="horz" lIns="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</a:p>
        </p:txBody>
      </p:sp>
      <p:sp>
        <p:nvSpPr>
          <p:cNvPr id="126" name="Text Placeholder 32">
            <a:extLst>
              <a:ext uri="{FF2B5EF4-FFF2-40B4-BE49-F238E27FC236}">
                <a16:creationId xmlns:a16="http://schemas.microsoft.com/office/drawing/2014/main" id="{2C0D3F0C-99CF-4238-AAA4-C13CD4B2C416}"/>
              </a:ext>
            </a:extLst>
          </p:cNvPr>
          <p:cNvSpPr txBox="1">
            <a:spLocks/>
          </p:cNvSpPr>
          <p:nvPr/>
        </p:nvSpPr>
        <p:spPr>
          <a:xfrm>
            <a:off x="2211772" y="5437922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2" name="Text Placeholder 31">
            <a:extLst>
              <a:ext uri="{FF2B5EF4-FFF2-40B4-BE49-F238E27FC236}">
                <a16:creationId xmlns:a16="http://schemas.microsoft.com/office/drawing/2014/main" id="{98DDA43F-34CF-4E57-97F0-535BCBD8A38F}"/>
              </a:ext>
            </a:extLst>
          </p:cNvPr>
          <p:cNvSpPr txBox="1">
            <a:spLocks/>
          </p:cNvSpPr>
          <p:nvPr/>
        </p:nvSpPr>
        <p:spPr>
          <a:xfrm>
            <a:off x="6107553" y="5001768"/>
            <a:ext cx="1828800" cy="69494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vert="horz" lIns="0" tIns="3600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A73003EF-6143-460A-9787-61DCD9FD999B}"/>
              </a:ext>
            </a:extLst>
          </p:cNvPr>
          <p:cNvSpPr txBox="1">
            <a:spLocks/>
          </p:cNvSpPr>
          <p:nvPr/>
        </p:nvSpPr>
        <p:spPr>
          <a:xfrm>
            <a:off x="6180038" y="5440680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FD461938-72FB-4E5D-80CD-DE5F3EE1D5AE}"/>
              </a:ext>
            </a:extLst>
          </p:cNvPr>
          <p:cNvSpPr txBox="1">
            <a:spLocks/>
          </p:cNvSpPr>
          <p:nvPr/>
        </p:nvSpPr>
        <p:spPr>
          <a:xfrm>
            <a:off x="9465664" y="5001768"/>
            <a:ext cx="1828800" cy="69494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vert="horz" lIns="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</a:p>
        </p:txBody>
      </p:sp>
      <p:sp>
        <p:nvSpPr>
          <p:cNvPr id="128" name="Text Placeholder 32">
            <a:extLst>
              <a:ext uri="{FF2B5EF4-FFF2-40B4-BE49-F238E27FC236}">
                <a16:creationId xmlns:a16="http://schemas.microsoft.com/office/drawing/2014/main" id="{45985B0E-D419-4BA2-BA87-799D71E9D775}"/>
              </a:ext>
            </a:extLst>
          </p:cNvPr>
          <p:cNvSpPr txBox="1">
            <a:spLocks/>
          </p:cNvSpPr>
          <p:nvPr/>
        </p:nvSpPr>
        <p:spPr>
          <a:xfrm>
            <a:off x="9573176" y="5440680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45" name="Date Placeholder 144">
            <a:extLst>
              <a:ext uri="{FF2B5EF4-FFF2-40B4-BE49-F238E27FC236}">
                <a16:creationId xmlns:a16="http://schemas.microsoft.com/office/drawing/2014/main" id="{EDFDF909-B06D-4D45-B05A-FB9B7D1C9B5B}"/>
              </a:ext>
            </a:extLst>
          </p:cNvPr>
          <p:cNvSpPr>
            <a:spLocks noGrp="1"/>
          </p:cNvSpPr>
          <p:nvPr>
            <p:ph type="dt" sz="half" idx="61"/>
          </p:nvPr>
        </p:nvSpPr>
        <p:spPr/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146" name="Rectangle 145"/>
          <p:cNvSpPr/>
          <p:nvPr/>
        </p:nvSpPr>
        <p:spPr>
          <a:xfrm>
            <a:off x="502920" y="1078992"/>
            <a:ext cx="110642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14400" y="53035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000000"/>
                </a:solidFill>
                <a:latin typeface="Arial"/>
              </a:rPr>
              <a:t>THE LIVE STORY IN 60 SECONDS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987552"/>
            <a:ext cx="102412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77179"/>
                </a:solidFill>
                <a:latin typeface="Arial"/>
              </a:rPr>
              <a:t>One question. One evidence trail. One controlled way to forget responsibly.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115568" y="2816352"/>
            <a:ext cx="9994392" cy="0"/>
          </a:xfrm>
          <a:prstGeom prst="line">
            <a:avLst/>
          </a:prstGeom>
          <a:ln w="38100">
            <a:solidFill>
              <a:srgbClr val="099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91440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ASK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0896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Did Acme sign off UAT?</a:t>
            </a:r>
          </a:p>
        </p:txBody>
      </p:sp>
      <p:sp>
        <p:nvSpPr>
          <p:cNvPr id="153" name="Oval 152"/>
          <p:cNvSpPr/>
          <p:nvPr/>
        </p:nvSpPr>
        <p:spPr>
          <a:xfrm>
            <a:off x="278892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423160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OPEN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85415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Exact turn in context</a:t>
            </a:r>
          </a:p>
        </p:txBody>
      </p:sp>
      <p:sp>
        <p:nvSpPr>
          <p:cNvPr id="156" name="Oval 155"/>
          <p:cNvSpPr/>
          <p:nvPr/>
        </p:nvSpPr>
        <p:spPr>
          <a:xfrm>
            <a:off x="466344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297679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EVOLVE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059935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Proposal → current state</a:t>
            </a:r>
          </a:p>
        </p:txBody>
      </p:sp>
      <p:sp>
        <p:nvSpPr>
          <p:cNvPr id="159" name="Oval 158"/>
          <p:cNvSpPr/>
          <p:nvPr/>
        </p:nvSpPr>
        <p:spPr>
          <a:xfrm>
            <a:off x="653796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72200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RADAR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934456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What should we revisit?</a:t>
            </a:r>
          </a:p>
        </p:txBody>
      </p:sp>
      <p:sp>
        <p:nvSpPr>
          <p:cNvPr id="162" name="Oval 161"/>
          <p:cNvSpPr/>
          <p:nvPr/>
        </p:nvSpPr>
        <p:spPr>
          <a:xfrm>
            <a:off x="841248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46719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ALIAS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808975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Pseudonymise one person</a:t>
            </a:r>
          </a:p>
        </p:txBody>
      </p:sp>
      <p:sp>
        <p:nvSpPr>
          <p:cNvPr id="165" name="Oval 164"/>
          <p:cNvSpPr/>
          <p:nvPr/>
        </p:nvSpPr>
        <p:spPr>
          <a:xfrm>
            <a:off x="10287000" y="2532888"/>
            <a:ext cx="566928" cy="566928"/>
          </a:xfrm>
          <a:prstGeom prst="ellipse">
            <a:avLst/>
          </a:prstGeom>
          <a:solidFill>
            <a:srgbClr val="0995A9"/>
          </a:solidFill>
          <a:ln>
            <a:solidFill>
              <a:srgbClr val="099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921240" y="3246120"/>
            <a:ext cx="13075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64D71"/>
                </a:solidFill>
                <a:latin typeface="Arial"/>
              </a:rPr>
              <a:t>RE-ASK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83496" y="3675887"/>
            <a:ext cx="1783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21A22"/>
                </a:solidFill>
                <a:latin typeface="Arial"/>
              </a:rPr>
              <a:t>History intact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828800" y="4983480"/>
            <a:ext cx="8595360" cy="658368"/>
          </a:xfrm>
          <a:prstGeom prst="roundRect">
            <a:avLst/>
          </a:prstGeom>
          <a:solidFill>
            <a:srgbClr val="F1F6F8"/>
          </a:solidFill>
          <a:ln>
            <a:solidFill>
              <a:srgbClr val="F1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084831" y="5193792"/>
            <a:ext cx="8092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995A9"/>
                </a:solidFill>
                <a:latin typeface="Arial"/>
              </a:rPr>
              <a:t>Same archive. New answer. Zero amnesia.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68680" y="64465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677179"/>
                </a:solidFill>
                <a:latin typeface="Arial"/>
              </a:rPr>
              <a:t>AALTOAI HACKATHON 2026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09160" y="6446520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677179"/>
                </a:solidFill>
                <a:latin typeface="Arial"/>
              </a:rPr>
              <a:t>MEMORY WITH A RECEIPT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77179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936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hoto of Wall street sign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/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0E486CF-8877-4DB4-98D3-2CD9F1CB33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/>
          <a:p/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108C1532-C197-478C-AFA8-3EACE6CE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07E67588-DFE4-40B6-B7B2-7329C1D7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FBA0FCD-5060-4B39-B311-BE2FE37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896112" y="3712463"/>
            <a:ext cx="5166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WE BUILT MEMORY THAT CAN EXPLAIN ITSELF — AND FORGET RESPONSIBLY.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3749039"/>
            <a:ext cx="4526280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A receipt for every conclusion.
A controlled way back.
A product that does more than chat.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5047488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95A9"/>
                </a:solidFill>
                <a:latin typeface="Arial"/>
              </a:rPr>
              <a:t>Thank you · Questions welcome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5623560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77179"/>
                </a:solidFill>
                <a:latin typeface="Arial"/>
              </a:rPr>
              <a:t>RELEX Challenge · AaltoAI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.potx" id="{20737546-06B0-4BD7-AC56-F403EF86C0E3}" vid="{1EA85B44-1A53-4BBB-B1B2-A9A21AB62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{C2703EC0-7A06-4104-B3AB-562D34B524ED}TF76bfe6bd-a272-44a9-ad3e-da6a599998506a279e03_win32-cff128656382</Template>
  <TotalTime>0</TotalTime>
  <Words>927</Words>
  <Application>Microsoft Office PowerPoint</Application>
  <PresentationFormat>Widescreen</PresentationFormat>
  <Paragraphs>330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Selawik Semibold</vt:lpstr>
      <vt:lpstr>Source Sans Pro</vt:lpstr>
      <vt:lpstr>Source Sans Pro ExtraLight</vt:lpstr>
      <vt:lpstr>Office Theme</vt:lpstr>
      <vt:lpstr>PITCH DECK</vt:lpstr>
      <vt:lpstr>ABOUT US</vt:lpstr>
      <vt:lpstr>PROBLEM</vt:lpstr>
      <vt:lpstr>SOLUTION</vt:lpstr>
      <vt:lpstr>PRODUCT OVERVIEW</vt:lpstr>
      <vt:lpstr>PRODUCT BENEFITS</vt:lpstr>
      <vt:lpstr>COMPANY OVERVIEW</vt:lpstr>
      <vt:lpstr>BUSINESS MODEL</vt:lpstr>
      <vt:lpstr>MARKET OVERVIEW</vt:lpstr>
      <vt:lpstr>MARKET COMPARISON</vt:lpstr>
      <vt:lpstr>OUR COMPETITION</vt:lpstr>
      <vt:lpstr>GROWTH STRATEGY</vt:lpstr>
      <vt:lpstr>OUR COMPETITION </vt:lpstr>
      <vt:lpstr>TRACTION</vt:lpstr>
      <vt:lpstr>TWO-YEAR ACTION PLAN</vt:lpstr>
      <vt:lpstr>FINANCIALS</vt:lpstr>
      <vt:lpstr>MEET THE TEAM</vt:lpstr>
      <vt:lpstr>MEET THE FULL TEAM</vt:lpstr>
      <vt:lpstr>FUNDING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Doan Viet</dc:creator>
  <cp:lastModifiedBy>Doan Viet</cp:lastModifiedBy>
  <cp:revision>1</cp:revision>
  <dcterms:created xsi:type="dcterms:W3CDTF">2026-09-19T19:19:06Z</dcterms:created>
  <dcterms:modified xsi:type="dcterms:W3CDTF">2026-09-19T19:19:58Z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