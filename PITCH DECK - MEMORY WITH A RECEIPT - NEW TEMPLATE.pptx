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5"/>
  </p:notesMasterIdLst>
  <p:handoutMasterIdLst>
    <p:handoutMasterId r:id="rId16"/>
  </p:handoutMasterIdLst>
  <p:sldIdLst>
    <p:sldId id="1519" r:id="rId5"/>
    <p:sldId id="1539" r:id="rId6"/>
    <p:sldId id="1530" r:id="rId7"/>
    <p:sldId id="1523" r:id="rId8"/>
    <p:sldId id="1538" r:id="rId9"/>
    <p:sldId id="1536" r:id="rId10"/>
    <p:sldId id="1540" r:id="rId11"/>
    <p:sldId id="1532" r:id="rId12"/>
    <p:sldId id="1535" r:id="rId13"/>
    <p:sldId id="153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2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image" Target="../media/image2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6" descr="A field of grass and a blue sky">
            <a:extLst>
              <a:ext uri="{FF2B5EF4-FFF2-40B4-BE49-F238E27FC236}">
                <a16:creationId xmlns:a16="http://schemas.microsoft.com/office/drawing/2014/main" id="{F9DB484A-0F6D-AA40-DDC0-A88846E223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4" name="TextBox 13"/>
          <p:cNvSpPr txBox="1"/>
          <p:nvPr/>
        </p:nvSpPr>
        <p:spPr>
          <a:xfrm>
            <a:off x="228600" y="4224528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0676E"/>
                </a:solidFill>
                <a:latin typeface="Arial"/>
              </a:rPr>
              <a:t>ORGANIZATIONAL MEMORY AUDITOR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224528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676E"/>
                </a:solidFill>
                <a:latin typeface="Arial"/>
              </a:rPr>
              <a:t>AALTOAI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5029200"/>
            <a:ext cx="9509760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Arial"/>
              </a:rPr>
              <a:t>Memory with a
Receipt</a:t>
            </a:r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close up of a plant">
            <a:extLst>
              <a:ext uri="{FF2B5EF4-FFF2-40B4-BE49-F238E27FC236}">
                <a16:creationId xmlns:a16="http://schemas.microsoft.com/office/drawing/2014/main" id="{BC0F1B81-EB42-26A4-CA8C-DCB5277234C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" r="101"/>
          <a:stretch/>
        </p:blipFill>
        <p:spPr>
          <a:xfrm>
            <a:off x="-1" y="4509435"/>
            <a:ext cx="12192000" cy="2348564"/>
          </a:xfrm>
        </p:spPr>
      </p:pic>
      <p:sp>
        <p:nvSpPr>
          <p:cNvPr id="10" name="TextBox 9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1572768"/>
            <a:ext cx="5257800" cy="2743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Why memory
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1517904"/>
            <a:ext cx="557784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 clean summary can still be wrong when the archive disagrees with itself.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64D71"/>
                </a:solidFill>
                <a:latin typeface="Arial"/>
              </a:rPr>
              <a:t>45 files, one messy truth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64D71"/>
                </a:solidFill>
                <a:latin typeface="Arial"/>
              </a:rPr>
              <a:t>Suggestion ≠ commitment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64D71"/>
                </a:solidFill>
                <a:latin typeface="Arial"/>
              </a:rPr>
              <a:t>Stale ≠ false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64D71"/>
                </a:solidFill>
                <a:latin typeface="Arial"/>
              </a:rPr>
              <a:t>Privacy ≠ amnesia</a:t>
            </a:r>
          </a:p>
        </p:txBody>
      </p:sp>
    </p:spTree>
    <p:extLst>
      <p:ext uri="{BB962C8B-B14F-4D97-AF65-F5344CB8AC3E}">
        <p14:creationId xmlns:p14="http://schemas.microsoft.com/office/powerpoint/2010/main" val="164061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234440"/>
            <a:ext cx="525780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800" b="1" i="0">
                <a:solidFill>
                  <a:srgbClr val="000000"/>
                </a:solidFill>
                <a:latin typeface="Arial"/>
              </a:rPr>
              <a:t>2,534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64D71"/>
                </a:solidFill>
                <a:latin typeface="Arial"/>
              </a:rPr>
              <a:t>citable Evidence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8" y="1325880"/>
            <a:ext cx="5074920" cy="2468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from 45 source
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160520"/>
            <a:ext cx="46634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60676E"/>
                </a:solidFill>
                <a:latin typeface="Arial"/>
              </a:rPr>
              <a:t>March 2024 – July 2026
490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307556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607040" cy="356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Arial"/>
              </a:rPr>
              <a:t>The Evidence Locker
is the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6636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995A9"/>
                </a:solidFill>
                <a:latin typeface="Arial"/>
              </a:rPr>
              <a:t>The LLM is only an interpreter.</a:t>
            </a:r>
          </a:p>
        </p:txBody>
      </p:sp>
    </p:spTree>
    <p:extLst>
      <p:ext uri="{BB962C8B-B14F-4D97-AF65-F5344CB8AC3E}">
        <p14:creationId xmlns:p14="http://schemas.microsoft.com/office/powerpoint/2010/main" val="38177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person in a blanket on a horse">
            <a:extLst>
              <a:ext uri="{FF2B5EF4-FFF2-40B4-BE49-F238E27FC236}">
                <a16:creationId xmlns:a16="http://schemas.microsoft.com/office/drawing/2014/main" id="{1F8A4773-B380-738B-100D-9FCA71091C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" r="607"/>
          <a:stretch/>
        </p:blipFill>
        <p:spPr>
          <a:xfrm>
            <a:off x="7805393" y="843539"/>
            <a:ext cx="4120983" cy="5761544"/>
          </a:xfrm>
        </p:spPr>
      </p:pic>
      <p:sp>
        <p:nvSpPr>
          <p:cNvPr id="13" name="TextBox 12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28600"/>
            <a:ext cx="64008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000000"/>
                </a:solidFill>
                <a:latin typeface="Arial"/>
              </a:rPr>
              <a:t>A CASE,
NOT A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1874519"/>
            <a:ext cx="6400800" cy="4251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64D71"/>
                </a:solidFill>
                <a:latin typeface="Arial"/>
              </a:rPr>
              <a:t>ASK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Hybrid retrieval finds the moments that matter — not the whole archive.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164D71"/>
                </a:solidFill>
                <a:latin typeface="Arial"/>
              </a:rPr>
              <a:t>CHECK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Risk rules decide when the first answer needs a real challenge.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164D71"/>
                </a:solidFill>
                <a:latin typeface="Arial"/>
              </a:rPr>
              <a:t>RECONCILE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Conflicts, uncertainty and Decision Evolution stay visible.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164D71"/>
                </a:solidFill>
                <a:latin typeface="Arial"/>
              </a:rPr>
              <a:t>RECEIPT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Every claim links back to exact stored evidence.</a:t>
            </a:r>
          </a:p>
        </p:txBody>
      </p:sp>
    </p:spTree>
    <p:extLst>
      <p:ext uri="{BB962C8B-B14F-4D97-AF65-F5344CB8AC3E}">
        <p14:creationId xmlns:p14="http://schemas.microsoft.com/office/powerpoint/2010/main" val="132067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riding a horse">
            <a:extLst>
              <a:ext uri="{FF2B5EF4-FFF2-40B4-BE49-F238E27FC236}">
                <a16:creationId xmlns:a16="http://schemas.microsoft.com/office/drawing/2014/main" id="{B0C09140-67D4-AC19-60B7-AFF86DC91C6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0" y="0"/>
            <a:ext cx="5895374" cy="6858000"/>
          </a:xfrm>
        </p:spPr>
      </p:pic>
      <p:sp>
        <p:nvSpPr>
          <p:cNvPr id="12" name="TextBox 11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75488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Ingest &amp;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7548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Canonicalize the 45-file archive.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005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005840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Lock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00584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2,534 units + stable Evidence IDs.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536192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1536192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Map 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36192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Attribution, aliases, relationships.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066543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066543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Find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66543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Hybrid lexical + semantic retrieval.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596896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596896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Build auditor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96896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Cases, risk engine, Skeptic.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1272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127248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Show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2724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Decision Evolution + Radar.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65759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95A9"/>
                </a:solidFill>
                <a:latin typeface="Arial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657599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Prove edges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599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676E"/>
                </a:solidFill>
                <a:latin typeface="Arial"/>
              </a:rPr>
              <a:t>Pseudonymization, reversal, tests.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5102352"/>
            <a:ext cx="548640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000000"/>
                </a:solidFill>
                <a:latin typeface="Arial"/>
              </a:rPr>
              <a:t>OUR 7-STEP
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286239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5B131F8D-47E4-B7D2-52C8-1394CCC54E0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95655346"/>
              </p:ext>
            </p:extLst>
          </p:nvPr>
        </p:nvGraphicFramePr>
        <p:xfrm>
          <a:off x="5394960" y="1005840"/>
          <a:ext cx="6558606" cy="5627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202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2186202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2186202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1406969"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400" b="1">
                          <a:solidFill>
                            <a:srgbClr val="164D71"/>
                          </a:solidFill>
                          <a:latin typeface="Arial"/>
                        </a:rPr>
                        <a:t>Typical chatbot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400" b="1">
                          <a:solidFill>
                            <a:srgbClr val="164D71"/>
                          </a:solidFill>
                          <a:latin typeface="Arial"/>
                        </a:rPr>
                        <a:t>Our Auditor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400" b="1">
                          <a:solidFill>
                            <a:srgbClr val="164D71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1406969"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Best-effort prose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Typed Case + receipt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Defensible answer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1406969"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Latest statement wins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Decision Evolution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Supersession stays visible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1406969"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Waits for a question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Reconsideration Radar</a:t>
                      </a:r>
                    </a:p>
                  </a:txBody>
                  <a:tcPr marL="137160" marR="137160" anchor="ctr"/>
                </a:tc>
                <a:tc>
                  <a:txBody>
                    <a:bodyPr wrap="square" lIns="137160" rIns="109728" tIns="73152" bIns="73152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Initiative, not just chat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7160" y="109728"/>
            <a:ext cx="3493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0676E"/>
                </a:solidFill>
                <a:latin typeface="Arial"/>
              </a:rPr>
              <a:t>RELEX CHALLENGE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10972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0676E"/>
                </a:solidFill>
                <a:latin typeface="Arial"/>
              </a:rPr>
              <a:t>MEMORY WITH A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1168" y="109728"/>
            <a:ext cx="429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0676E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1051560"/>
            <a:ext cx="3886200" cy="4846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Not just
another
chatbot</a:t>
            </a:r>
          </a:p>
        </p:txBody>
      </p:sp>
    </p:spTree>
    <p:extLst>
      <p:ext uri="{BB962C8B-B14F-4D97-AF65-F5344CB8AC3E}">
        <p14:creationId xmlns:p14="http://schemas.microsoft.com/office/powerpoint/2010/main" val="334948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16752" y="1097280"/>
            <a:ext cx="5806440" cy="3886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"Privacy changes the
name in the product —
not the history in the archive."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5212080"/>
            <a:ext cx="5760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95A9"/>
                </a:solidFill>
                <a:latin typeface="Arial"/>
              </a:rPr>
              <a:t>REVERSIBLE PSEUDONYMIZATION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5596128"/>
            <a:ext cx="5577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0676E"/>
                </a:solidFill>
                <a:latin typeface="Arial"/>
              </a:rPr>
              <a:t>Preserve · protect · restore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actus in a desert with Superstition Mountains in the background">
            <a:extLst>
              <a:ext uri="{FF2B5EF4-FFF2-40B4-BE49-F238E27FC236}">
                <a16:creationId xmlns:a16="http://schemas.microsoft.com/office/drawing/2014/main" id="{4714A920-A0E2-FD4C-E5D9-A6A3DF11D9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/>
          <a:stretch/>
        </p:blipFill>
        <p:spPr>
          <a:xfrm>
            <a:off x="6296626" y="0"/>
            <a:ext cx="5895374" cy="6858000"/>
          </a:xfrm>
        </p:spPr>
      </p:pic>
      <p:sp>
        <p:nvSpPr>
          <p:cNvPr id="7" name="TextBox 6"/>
          <p:cNvSpPr txBox="1"/>
          <p:nvPr/>
        </p:nvSpPr>
        <p:spPr>
          <a:xfrm>
            <a:off x="164592" y="228600"/>
            <a:ext cx="54406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0676E"/>
                </a:solidFill>
                <a:latin typeface="Arial"/>
              </a:rPr>
              <a:t>Rejected/deferred idea → blocker → what changed →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1234440"/>
            <a:ext cx="5669280" cy="4160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THE RADAR:
LOOK AHEAD,
NOT JUST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669280"/>
            <a:ext cx="5577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995A9"/>
                </a:solidFill>
                <a:latin typeface="Arial"/>
              </a:rPr>
              <a:t>7 skeptical checks.
No unsupported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80170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field of grass and a blue sky">
            <a:extLst>
              <a:ext uri="{FF2B5EF4-FFF2-40B4-BE49-F238E27FC236}">
                <a16:creationId xmlns:a16="http://schemas.microsoft.com/office/drawing/2014/main" id="{EB060EBB-A7D3-C46C-BB96-74F0EA27476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0" y="0"/>
            <a:ext cx="12191999" cy="5425440"/>
          </a:xfrm>
        </p:spPr>
      </p:pic>
      <p:sp>
        <p:nvSpPr>
          <p:cNvPr id="11" name="TextBox 10"/>
          <p:cNvSpPr txBox="1"/>
          <p:nvPr/>
        </p:nvSpPr>
        <p:spPr>
          <a:xfrm>
            <a:off x="228600" y="5669280"/>
            <a:ext cx="8915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MEMORY WITH A RECEIPT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5760720"/>
            <a:ext cx="24231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Auditable memory.
Controlled privacy.</a:t>
            </a:r>
          </a:p>
        </p:txBody>
      </p:sp>
    </p:spTree>
    <p:extLst>
      <p:ext uri="{BB962C8B-B14F-4D97-AF65-F5344CB8AC3E}">
        <p14:creationId xmlns:p14="http://schemas.microsoft.com/office/powerpoint/2010/main" val="3539365837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{46A8283F-78A4-4E47-84A3-10F37BFE5938}a66659d7-4ae5-4a84-bda5-01ae08d386fc-TF10983434-e67f-4eff-8398-e28d8d6c35c5ce98279b_win32</Template>
  <TotalTime>0</TotalTime>
  <Words>260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Southwestern</vt:lpstr>
      <vt:lpstr>Shaping the future  of our industry</vt:lpstr>
      <vt:lpstr>Welcome</vt:lpstr>
      <vt:lpstr>of businesses say digital transformation is essential  to their survival</vt:lpstr>
      <vt:lpstr>Quote</vt:lpstr>
      <vt:lpstr>Thriving in uncertainty</vt:lpstr>
      <vt:lpstr>Where do we go from here?</vt:lpstr>
      <vt:lpstr>Industry case studies</vt:lpstr>
      <vt:lpstr>Albert Einstein</vt:lpstr>
      <vt:lpstr>Embrace change. Lead the future.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Doan Viet</dc:creator>
  <cp:lastModifiedBy>Doan Viet</cp:lastModifiedBy>
  <cp:revision>1</cp:revision>
  <dcterms:created xsi:type="dcterms:W3CDTF">2026-09-20T06:01:24Z</dcterms:created>
  <dcterms:modified xsi:type="dcterms:W3CDTF">2026-09-20T06:02:16Z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